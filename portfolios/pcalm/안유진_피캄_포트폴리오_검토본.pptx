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instagram.com/reel/DI3X_psyEa1/" TargetMode="External"/><Relationship Id="rId5" Type="http://schemas.openxmlformats.org/officeDocument/2006/relationships/hyperlink" Target="https://www.instagram.com/reel/DJn_NwiSLoM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06A5D"/>
                </a:solidFill>
                <a:latin typeface="Noto Sans CJK KR"/>
              </a:defRPr>
            </a:pPr>
            <a:r>
              <a:t>P.CALM  /  인플루언서 마케팅 지원 포트폴리오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85800"/>
            <a:ext cx="11155680" cy="13716"/>
          </a:xfrm>
          <a:prstGeom prst="rect">
            <a:avLst/>
          </a:prstGeom>
          <a:solidFill>
            <a:srgbClr val="CF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7746F"/>
                </a:solidFill>
                <a:latin typeface="Noto Sans CJK KR"/>
              </a:defRPr>
            </a:pPr>
            <a:r>
              <a:t>AHN YUJIN  /  INFLUENCER &amp; CONTENT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7746F"/>
                </a:solidFill>
                <a:latin typeface="Noto Sans CJK KR"/>
              </a:defRPr>
            </a:pPr>
            <a:r>
              <a:t>01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7909560" y="704088"/>
            <a:ext cx="4279392" cy="5596128"/>
          </a:xfrm>
          <a:prstGeom prst="rect">
            <a:avLst/>
          </a:prstGeom>
          <a:solidFill>
            <a:srgbClr val="E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73152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172E2B"/>
                </a:solidFill>
                <a:latin typeface="Noto Sans CJK KR"/>
              </a:defRPr>
            </a:pPr>
            <a:r>
              <a:t>브랜드에 맞는 협업을 찾고,</a:t>
            </a:r>
          </a:p>
          <a:p>
            <a:pPr>
              <a:spcAft>
                <a:spcPts val="700"/>
              </a:spcAft>
              <a:defRPr sz="3200" b="1">
                <a:solidFill>
                  <a:srgbClr val="172E2B"/>
                </a:solidFill>
                <a:latin typeface="Noto Sans CJK KR"/>
              </a:defRPr>
            </a:pPr>
            <a:r>
              <a:t>콘텐츠 발행과 성과까지</a:t>
            </a:r>
          </a:p>
          <a:p>
            <a:pPr>
              <a:spcAft>
                <a:spcPts val="700"/>
              </a:spcAft>
              <a:defRPr sz="3200" b="1">
                <a:solidFill>
                  <a:srgbClr val="172E2B"/>
                </a:solidFill>
                <a:latin typeface="Noto Sans CJK KR"/>
              </a:defRPr>
            </a:pPr>
            <a:r>
              <a:t>끝까지 챙깁니다.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576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7746F"/>
                </a:solidFill>
                <a:latin typeface="Noto Sans CJK KR"/>
              </a:defRPr>
            </a:pPr>
            <a:r>
              <a:t>뷰티 바이럴 캠페인 · 인플루언서 시딩 · 숏폼 기획</a:t>
            </a:r>
          </a:p>
          <a:p>
            <a:pPr>
              <a:spcAft>
                <a:spcPts val="700"/>
              </a:spcAft>
              <a:defRPr sz="1600" b="0">
                <a:solidFill>
                  <a:srgbClr val="67746F"/>
                </a:solidFill>
                <a:latin typeface="Noto Sans CJK KR"/>
              </a:defRPr>
            </a:pPr>
            <a:r>
              <a:t>대행사와 인하우스에서 쌓은 실행 경험을 소개합니다.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1206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72E2B"/>
                </a:solidFill>
                <a:latin typeface="Noto Sans CJK KR"/>
              </a:defRPr>
            </a:pPr>
            <a:r>
              <a:t>안유진  AHN YUJIN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6692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7746F"/>
                </a:solidFill>
                <a:latin typeface="Noto Sans CJK KR"/>
              </a:defRPr>
            </a:pPr>
            <a:r>
              <a:t>경험 재구성 검토본  ·  2026.10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2344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06A5D"/>
                </a:solidFill>
                <a:latin typeface="Noto Sans CJK KR"/>
              </a:defRPr>
            </a:pPr>
            <a:r>
              <a:t>01  BEAUTY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627632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72E2B"/>
                </a:solidFill>
                <a:latin typeface="Noto Sans CJK KR"/>
              </a:defRPr>
            </a:pPr>
            <a:r>
              <a:t>딥글로우 뷰티 캠페인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423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06A5D"/>
                </a:solidFill>
                <a:latin typeface="Noto Sans CJK KR"/>
              </a:defRPr>
            </a:pPr>
            <a:r>
              <a:t>02  COLLABORATION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816352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72E2B"/>
                </a:solidFill>
                <a:latin typeface="Noto Sans CJK KR"/>
              </a:defRPr>
            </a:pPr>
            <a:r>
              <a:t>나노 인플루언서 76인 협업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611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06A5D"/>
                </a:solidFill>
                <a:latin typeface="Noto Sans CJK KR"/>
              </a:defRPr>
            </a:pPr>
            <a:r>
              <a:t>03  SHORT-FORM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005072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72E2B"/>
                </a:solidFill>
                <a:latin typeface="Noto Sans CJK KR"/>
              </a:defRPr>
            </a:pPr>
            <a:r>
              <a:t>포토그레이 릴스 2건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800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06A5D"/>
                </a:solidFill>
                <a:latin typeface="Noto Sans CJK KR"/>
              </a:defRPr>
            </a:pPr>
            <a:r>
              <a:t>04 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193792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72E2B"/>
                </a:solidFill>
                <a:latin typeface="Noto Sans CJK KR"/>
              </a:defRPr>
            </a:pPr>
            <a:r>
              <a:t>채널 분석 · 트렌드 리포트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06A5D"/>
                </a:solidFill>
                <a:latin typeface="Noto Sans CJK KR"/>
              </a:defRPr>
            </a:pPr>
            <a:r>
              <a:t>PROFILE  /  직무와 연결되는 경험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85800"/>
            <a:ext cx="11155680" cy="13716"/>
          </a:xfrm>
          <a:prstGeom prst="rect">
            <a:avLst/>
          </a:prstGeom>
          <a:solidFill>
            <a:srgbClr val="CF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7746F"/>
                </a:solidFill>
                <a:latin typeface="Noto Sans CJK KR"/>
              </a:defRPr>
            </a:pPr>
            <a:r>
              <a:t>AHN YUJIN  /  INFLUENCER &amp; CONTENT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7746F"/>
                </a:solidFill>
                <a:latin typeface="Noto Sans CJK KR"/>
              </a:defRPr>
            </a:pPr>
            <a:r>
              <a:t>02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72E2B"/>
                </a:solidFill>
                <a:latin typeface="Noto Sans CJK KR"/>
              </a:defRPr>
            </a:pPr>
            <a:r>
              <a:t>발굴·기획·운영·분석을 연결하는 마케터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2331720" cy="658368"/>
          </a:xfrm>
          <a:prstGeom prst="rect">
            <a:avLst/>
          </a:prstGeom>
          <a:solidFill>
            <a:srgbClr val="E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12140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06A5D"/>
                </a:solidFill>
                <a:latin typeface="Noto Sans CJK KR"/>
              </a:defRPr>
            </a:pPr>
            <a:r>
              <a:t>인플루언서 협업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196596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72E2B"/>
                </a:solidFill>
                <a:latin typeface="Noto Sans CJK KR"/>
              </a:defRPr>
            </a:pPr>
            <a:r>
              <a:t>오오티비  |  2025.07–2026.01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2112" y="2304288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7746F"/>
                </a:solidFill>
                <a:latin typeface="Noto Sans CJK KR"/>
              </a:defRPr>
            </a:pPr>
            <a:r>
              <a:t>뷰티·F&amp;B 바이럴 캠페인 · 협업 가이드 · 일정·검수·리포트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816352"/>
            <a:ext cx="2331720" cy="658368"/>
          </a:xfrm>
          <a:prstGeom prst="rect">
            <a:avLst/>
          </a:prstGeom>
          <a:solidFill>
            <a:srgbClr val="E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9718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06A5D"/>
                </a:solidFill>
                <a:latin typeface="Noto Sans CJK KR"/>
              </a:defRPr>
            </a:pPr>
            <a:r>
              <a:t>시딩·숏폼 기획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2816352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72E2B"/>
                </a:solidFill>
                <a:latin typeface="Noto Sans CJK KR"/>
              </a:defRPr>
            </a:pPr>
            <a:r>
              <a:t>APR  |  2025.04–2025.07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3154680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7746F"/>
                </a:solidFill>
                <a:latin typeface="Noto Sans CJK KR"/>
              </a:defRPr>
            </a:pPr>
            <a:r>
              <a:t>글램디·포토그레이 시딩 운영 지원 · 밈 활용 릴스 기획·출연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666744"/>
            <a:ext cx="2331720" cy="658368"/>
          </a:xfrm>
          <a:prstGeom prst="rect">
            <a:avLst/>
          </a:prstGeom>
          <a:solidFill>
            <a:srgbClr val="E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822191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06A5D"/>
                </a:solidFill>
                <a:latin typeface="Noto Sans CJK KR"/>
              </a:defRPr>
            </a:pPr>
            <a:r>
              <a:t>채널·데이터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2112" y="3666744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72E2B"/>
                </a:solidFill>
                <a:latin typeface="Noto Sans CJK KR"/>
              </a:defRPr>
            </a:pPr>
            <a:r>
              <a:t>GS넷비전  |  2025.01–2025.04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2112" y="4005072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7746F"/>
                </a:solidFill>
                <a:latin typeface="Noto Sans CJK KR"/>
              </a:defRPr>
            </a:pPr>
            <a:r>
              <a:t>크리에이터 채널 운영 · 브랜드 릴스 · 월간 리포트·트렌드 리서치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517136"/>
            <a:ext cx="2331720" cy="658368"/>
          </a:xfrm>
          <a:prstGeom prst="rect">
            <a:avLst/>
          </a:prstGeom>
          <a:solidFill>
            <a:srgbClr val="E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4672583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06A5D"/>
                </a:solidFill>
                <a:latin typeface="Noto Sans CJK KR"/>
              </a:defRPr>
            </a:pPr>
            <a:r>
              <a:t>파트너 조율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82112" y="4517136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72E2B"/>
                </a:solidFill>
                <a:latin typeface="Noto Sans CJK KR"/>
              </a:defRPr>
            </a:pPr>
            <a:r>
              <a:t>건국대학교 총학생회  |  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82112" y="4855464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7746F"/>
                </a:solidFill>
                <a:latin typeface="Noto Sans CJK KR"/>
              </a:defRPr>
            </a:pPr>
            <a:r>
              <a:t>녹색지대 축제 기획·대외 협의 · 현장 운영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69671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7746F"/>
                </a:solidFill>
                <a:latin typeface="Noto Sans CJK KR"/>
              </a:defRPr>
            </a:pPr>
            <a:r>
              <a:t>활용 도구  |  Excel · Google Sheets · Notion · Google Analytics · YouTube Studio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06A5D"/>
                </a:solidFill>
                <a:latin typeface="Noto Sans CJK KR"/>
              </a:defRPr>
            </a:pPr>
            <a:r>
              <a:t>CASE 01  /  딥글로우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85800"/>
            <a:ext cx="11155680" cy="13716"/>
          </a:xfrm>
          <a:prstGeom prst="rect">
            <a:avLst/>
          </a:prstGeom>
          <a:solidFill>
            <a:srgbClr val="CF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7746F"/>
                </a:solidFill>
                <a:latin typeface="Noto Sans CJK KR"/>
              </a:defRPr>
            </a:pPr>
            <a:r>
              <a:t>AHN YUJIN  /  INFLUENCER &amp; CONTENT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7746F"/>
                </a:solidFill>
                <a:latin typeface="Noto Sans CJK KR"/>
              </a:defRPr>
            </a:pPr>
            <a:r>
              <a:t>03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2E2B"/>
                </a:solidFill>
                <a:latin typeface="Noto Sans CJK KR"/>
              </a:defRPr>
            </a:pPr>
            <a:r>
              <a:t>뷰티 제품의 소구점을</a:t>
            </a:r>
          </a:p>
          <a:p>
            <a:pPr>
              <a:spcAft>
                <a:spcPts val="700"/>
              </a:spcAft>
              <a:defRPr sz="2700" b="1">
                <a:solidFill>
                  <a:srgbClr val="172E2B"/>
                </a:solidFill>
                <a:latin typeface="Noto Sans CJK KR"/>
              </a:defRPr>
            </a:pPr>
            <a:r>
              <a:t>협업 콘텐츠로 연결하다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7746F"/>
                </a:solidFill>
                <a:latin typeface="Noto Sans CJK KR"/>
              </a:defRPr>
            </a:pPr>
            <a:r>
              <a:t>2025.08–2025.10  |  오오티비 | AE 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04872"/>
            <a:ext cx="5989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72E2B"/>
                </a:solidFill>
                <a:latin typeface="Noto Sans CJK KR"/>
              </a:defRPr>
            </a:pPr>
            <a:r>
              <a:t>올리브영 입점 초기 제품 인지도를 높이고 구매 관심을 넓히는 멀티채널 바이럴 캠페인.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821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06A5D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8211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06A5D"/>
                </a:solidFill>
                <a:latin typeface="Noto Sans CJK KR"/>
              </a:defRPr>
            </a:pPr>
            <a:r>
              <a:t>소구 방향 정리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74720"/>
            <a:ext cx="5349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72E2B"/>
                </a:solidFill>
                <a:latin typeface="Noto Sans CJK KR"/>
              </a:defRPr>
            </a:pPr>
            <a:r>
              <a:t>제품 USP와 타깃을 반영해 인플루언서 협업 콘텐츠 가이드를 작성했습니다.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5020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06A5D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5020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06A5D"/>
                </a:solidFill>
                <a:latin typeface="Noto Sans CJK KR"/>
              </a:defRPr>
            </a:pPr>
            <a:r>
              <a:t>협업 실행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242816"/>
            <a:ext cx="5349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72E2B"/>
                </a:solidFill>
                <a:latin typeface="Noto Sans CJK KR"/>
              </a:defRPr>
            </a:pPr>
            <a:r>
              <a:t>셀럽 PPL·릴스·체험단 산출물을 검수하고, 광고주·파트너와 수정 사항 및 업로드 일정을 조율했습니다.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18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06A5D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18304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06A5D"/>
                </a:solidFill>
                <a:latin typeface="Noto Sans CJK KR"/>
              </a:defRPr>
            </a:pPr>
            <a:r>
              <a:t>결과 리포트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010912"/>
            <a:ext cx="5349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72E2B"/>
                </a:solidFill>
                <a:latin typeface="Noto Sans CJK KR"/>
              </a:defRPr>
            </a:pPr>
            <a:r>
              <a:t>성과 데이터를 취합해 콘텐츠 확산과 캠페인 결과를 보고했습니다.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715000"/>
            <a:ext cx="58521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306A5D"/>
                </a:solidFill>
                <a:latin typeface="Noto Sans CJK KR"/>
              </a:defRPr>
            </a:pPr>
            <a:r>
              <a:t>직무 연결  |  뷰티 제품 이해 → 협업 콘텐츠 가이드 → 검수·발행 → 성과 보고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2432304"/>
            <a:ext cx="4754880" cy="3163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76872" y="2596896"/>
            <a:ext cx="2157984" cy="877824"/>
          </a:xfrm>
          <a:prstGeom prst="rect">
            <a:avLst/>
          </a:prstGeom>
          <a:solidFill>
            <a:srgbClr val="E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23176" y="2688336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306A5D"/>
                </a:solidFill>
                <a:latin typeface="Noto Sans CJK KR"/>
              </a:defRPr>
            </a:pPr>
            <a:r>
              <a:t>64만+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3176" y="3145536"/>
            <a:ext cx="188366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7746F"/>
                </a:solidFill>
                <a:latin typeface="Noto Sans CJK KR"/>
              </a:defRPr>
            </a:pPr>
            <a:r>
              <a:t>캠페인 콘텐츠 누적 조회수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44584" y="2596896"/>
            <a:ext cx="2157984" cy="877824"/>
          </a:xfrm>
          <a:prstGeom prst="rect">
            <a:avLst/>
          </a:prstGeom>
          <a:solidFill>
            <a:srgbClr val="E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90888" y="2688336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306A5D"/>
                </a:solidFill>
                <a:latin typeface="Noto Sans CJK KR"/>
              </a:defRPr>
            </a:pPr>
            <a:r>
              <a:t>6,300+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0888" y="3145536"/>
            <a:ext cx="188366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7746F"/>
                </a:solidFill>
                <a:latin typeface="Noto Sans CJK KR"/>
              </a:defRPr>
            </a:pPr>
            <a:r>
              <a:t>캠페인 인터랙션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3749039"/>
            <a:ext cx="228600" cy="228600"/>
          </a:xfrm>
          <a:prstGeom prst="rect">
            <a:avLst/>
          </a:prstGeom>
          <a:solidFill>
            <a:srgbClr val="306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373075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72E2B"/>
                </a:solidFill>
                <a:latin typeface="Noto Sans CJK KR"/>
              </a:defRPr>
            </a:pPr>
            <a:r>
              <a:t>제품·타깃 이해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4142231"/>
            <a:ext cx="228600" cy="228600"/>
          </a:xfrm>
          <a:prstGeom prst="rect">
            <a:avLst/>
          </a:prstGeom>
          <a:solidFill>
            <a:srgbClr val="306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412394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72E2B"/>
                </a:solidFill>
                <a:latin typeface="Noto Sans CJK KR"/>
              </a:defRPr>
            </a:pPr>
            <a:r>
              <a:t>채널별 가이드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0" y="4535424"/>
            <a:ext cx="228600" cy="228600"/>
          </a:xfrm>
          <a:prstGeom prst="rect">
            <a:avLst/>
          </a:prstGeom>
          <a:solidFill>
            <a:srgbClr val="306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4517136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72E2B"/>
                </a:solidFill>
                <a:latin typeface="Noto Sans CJK KR"/>
              </a:defRPr>
            </a:pPr>
            <a:r>
              <a:t>검수·일정 조율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4928616"/>
            <a:ext cx="228600" cy="228600"/>
          </a:xfrm>
          <a:prstGeom prst="rect">
            <a:avLst/>
          </a:prstGeom>
          <a:solidFill>
            <a:srgbClr val="306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52360" y="491032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72E2B"/>
                </a:solidFill>
                <a:latin typeface="Noto Sans CJK KR"/>
              </a:defRPr>
            </a:pPr>
            <a:r>
              <a:t>성과 보고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5980176"/>
            <a:ext cx="47091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50" b="0">
                <a:solidFill>
                  <a:srgbClr val="67746F"/>
                </a:solidFill>
                <a:latin typeface="Noto Sans CJK KR"/>
              </a:defRPr>
            </a:pPr>
            <a:r>
              <a:t>캠페인 기간 브랜드 누적 판매량 +39.1%, 올리브영 데일리 랭킹 2위(2025년 10월 2주차). 브랜드 전체 지표로, 개인 기여의 인과 효과와 구분합니다.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06A5D"/>
                </a:solidFill>
                <a:latin typeface="Noto Sans CJK KR"/>
              </a:defRPr>
            </a:pPr>
            <a:r>
              <a:t>CASE 02  /  롯데칠성 클라우드 논알콜릭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85800"/>
            <a:ext cx="11155680" cy="13716"/>
          </a:xfrm>
          <a:prstGeom prst="rect">
            <a:avLst/>
          </a:prstGeom>
          <a:solidFill>
            <a:srgbClr val="CF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7746F"/>
                </a:solidFill>
                <a:latin typeface="Noto Sans CJK KR"/>
              </a:defRPr>
            </a:pPr>
            <a:r>
              <a:t>AHN YUJIN  /  INFLUENCER &amp; CONTENT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7746F"/>
                </a:solidFill>
                <a:latin typeface="Noto Sans CJK KR"/>
              </a:defRPr>
            </a:pPr>
            <a:r>
              <a:t>04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2E2B"/>
                </a:solidFill>
                <a:latin typeface="Noto Sans CJK KR"/>
              </a:defRPr>
            </a:pPr>
            <a:r>
              <a:t>76인 협업을</a:t>
            </a:r>
          </a:p>
          <a:p>
            <a:pPr>
              <a:spcAft>
                <a:spcPts val="700"/>
              </a:spcAft>
              <a:defRPr sz="2700" b="1">
                <a:solidFill>
                  <a:srgbClr val="172E2B"/>
                </a:solidFill>
                <a:latin typeface="Noto Sans CJK KR"/>
              </a:defRPr>
            </a:pPr>
            <a:r>
              <a:t>기한 내 발행까지 관리하다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7746F"/>
                </a:solidFill>
                <a:latin typeface="Noto Sans CJK KR"/>
              </a:defRPr>
            </a:pPr>
            <a:r>
              <a:t>2025.11–2026.01  |  오오티비 | AE 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04872"/>
            <a:ext cx="5989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72E2B"/>
                </a:solidFill>
                <a:latin typeface="Noto Sans CJK KR"/>
              </a:defRPr>
            </a:pPr>
            <a:r>
              <a:t>신제품 인지도를 확대하기 위한 나노 인플루언서 협업 캠페인.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821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06A5D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8211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06A5D"/>
                </a:solidFill>
                <a:latin typeface="Noto Sans CJK KR"/>
              </a:defRPr>
            </a:pPr>
            <a:r>
              <a:t>후보 발굴·섭외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74720"/>
            <a:ext cx="5349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72E2B"/>
                </a:solidFill>
                <a:latin typeface="Noto Sans CJK KR"/>
              </a:defRPr>
            </a:pPr>
            <a:r>
              <a:t>인플루언서 후보를 찾고 협업 조건을 안내하며 콘텐츠 발행 일정을 조율했습니다.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5020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06A5D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5020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06A5D"/>
                </a:solidFill>
                <a:latin typeface="Noto Sans CJK KR"/>
              </a:defRPr>
            </a:pPr>
            <a:r>
              <a:t>네이티브 가이드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242816"/>
            <a:ext cx="5349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72E2B"/>
                </a:solidFill>
                <a:latin typeface="Noto Sans CJK KR"/>
              </a:defRPr>
            </a:pPr>
            <a:r>
              <a:t>방송 이슈와 제품 소비 상황을 반영한 콘텐츠 콘셉트·가이드를 수립했습니다.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18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06A5D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18304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06A5D"/>
                </a:solidFill>
                <a:latin typeface="Noto Sans CJK KR"/>
              </a:defRPr>
            </a:pPr>
            <a:r>
              <a:t>검수·팔로업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010912"/>
            <a:ext cx="5349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72E2B"/>
                </a:solidFill>
                <a:latin typeface="Noto Sans CJK KR"/>
              </a:defRPr>
            </a:pPr>
            <a:r>
              <a:t>필수 소구점과 가이드 준수 여부를 확인하고 수정 요청·최종 업로드·성과 취합을 진행했습니다.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715000"/>
            <a:ext cx="58521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306A5D"/>
                </a:solidFill>
                <a:latin typeface="Noto Sans CJK KR"/>
              </a:defRPr>
            </a:pPr>
            <a:r>
              <a:t>직무 연결  |  인플루언서 발굴 → 조건·일정 조율 → 가이드 검수 → 업로드 관리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2432304"/>
            <a:ext cx="4754880" cy="3163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76872" y="2596896"/>
            <a:ext cx="1402080" cy="877824"/>
          </a:xfrm>
          <a:prstGeom prst="rect">
            <a:avLst/>
          </a:prstGeom>
          <a:solidFill>
            <a:srgbClr val="E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23176" y="2688336"/>
            <a:ext cx="1127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306A5D"/>
                </a:solidFill>
                <a:latin typeface="Noto Sans CJK KR"/>
              </a:defRPr>
            </a:pPr>
            <a:r>
              <a:t>76인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3176" y="3145536"/>
            <a:ext cx="112775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7746F"/>
                </a:solidFill>
                <a:latin typeface="Noto Sans CJK KR"/>
              </a:defRPr>
            </a:pPr>
            <a:r>
              <a:t>나노 인플루언서 협업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88680" y="2596896"/>
            <a:ext cx="1402080" cy="877824"/>
          </a:xfrm>
          <a:prstGeom prst="rect">
            <a:avLst/>
          </a:prstGeom>
          <a:solidFill>
            <a:srgbClr val="E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34984" y="2688336"/>
            <a:ext cx="1127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306A5D"/>
                </a:solidFill>
                <a:latin typeface="Noto Sans CJK KR"/>
              </a:defRPr>
            </a:pPr>
            <a:r>
              <a:t>114만+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4984" y="3145536"/>
            <a:ext cx="112775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7746F"/>
                </a:solidFill>
                <a:latin typeface="Noto Sans CJK KR"/>
              </a:defRPr>
            </a:pPr>
            <a:r>
              <a:t>콘텐츠 누적 조회수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00488" y="2596896"/>
            <a:ext cx="1402080" cy="877824"/>
          </a:xfrm>
          <a:prstGeom prst="rect">
            <a:avLst/>
          </a:prstGeom>
          <a:solidFill>
            <a:srgbClr val="E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6792" y="2688336"/>
            <a:ext cx="1127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306A5D"/>
                </a:solidFill>
                <a:latin typeface="Noto Sans CJK KR"/>
              </a:defRPr>
            </a:pPr>
            <a: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6792" y="3145536"/>
            <a:ext cx="112775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7746F"/>
                </a:solidFill>
                <a:latin typeface="Noto Sans CJK KR"/>
              </a:defRPr>
            </a:pPr>
            <a:r>
              <a:t>기한 내 업로드 완료율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3749039"/>
            <a:ext cx="228600" cy="228600"/>
          </a:xfrm>
          <a:prstGeom prst="rect">
            <a:avLst/>
          </a:prstGeom>
          <a:solidFill>
            <a:srgbClr val="306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373075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72E2B"/>
                </a:solidFill>
                <a:latin typeface="Noto Sans CJK KR"/>
              </a:defRPr>
            </a:pPr>
            <a:r>
              <a:t>후보 발굴·섭외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80" y="4142231"/>
            <a:ext cx="228600" cy="228600"/>
          </a:xfrm>
          <a:prstGeom prst="rect">
            <a:avLst/>
          </a:prstGeom>
          <a:solidFill>
            <a:srgbClr val="306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412394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72E2B"/>
                </a:solidFill>
                <a:latin typeface="Noto Sans CJK KR"/>
              </a:defRPr>
            </a:pPr>
            <a:r>
              <a:t>조건·일정 안내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4535424"/>
            <a:ext cx="228600" cy="228600"/>
          </a:xfrm>
          <a:prstGeom prst="rect">
            <a:avLst/>
          </a:prstGeom>
          <a:solidFill>
            <a:srgbClr val="306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4517136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72E2B"/>
                </a:solidFill>
                <a:latin typeface="Noto Sans CJK KR"/>
              </a:defRPr>
            </a:pPr>
            <a:r>
              <a:t>콘텐츠 검수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4928616"/>
            <a:ext cx="228600" cy="228600"/>
          </a:xfrm>
          <a:prstGeom prst="rect">
            <a:avLst/>
          </a:prstGeom>
          <a:solidFill>
            <a:srgbClr val="306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491032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72E2B"/>
                </a:solidFill>
                <a:latin typeface="Noto Sans CJK KR"/>
              </a:defRPr>
            </a:pPr>
            <a:r>
              <a:t>최종 업로드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9712" y="5980176"/>
            <a:ext cx="47091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50" b="0">
                <a:solidFill>
                  <a:srgbClr val="67746F"/>
                </a:solidFill>
                <a:latin typeface="Noto Sans CJK KR"/>
              </a:defRPr>
            </a:pPr>
            <a:r>
              <a:t>캠페인 인터랙션 1.4만 건 이상. 조회수·인터랙션은 협업 콘텐츠 전체 실적입니다.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06A5D"/>
                </a:solidFill>
                <a:latin typeface="Noto Sans CJK KR"/>
              </a:defRPr>
            </a:pPr>
            <a:r>
              <a:t>CASE 03  /  APR · 글램디 / 포토그레이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85800"/>
            <a:ext cx="11155680" cy="13716"/>
          </a:xfrm>
          <a:prstGeom prst="rect">
            <a:avLst/>
          </a:prstGeom>
          <a:solidFill>
            <a:srgbClr val="CF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7746F"/>
                </a:solidFill>
                <a:latin typeface="Noto Sans CJK KR"/>
              </a:defRPr>
            </a:pPr>
            <a:r>
              <a:t>AHN YUJIN  /  INFLUENCER &amp; CONTENT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7746F"/>
                </a:solidFill>
                <a:latin typeface="Noto Sans CJK KR"/>
              </a:defRPr>
            </a:pPr>
            <a:r>
              <a:t>05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2E2B"/>
                </a:solidFill>
                <a:latin typeface="Noto Sans CJK KR"/>
              </a:defRPr>
            </a:pPr>
            <a:r>
              <a:t>브랜드에 맞는 크리에이터를 찾고</a:t>
            </a:r>
          </a:p>
          <a:p>
            <a:pPr>
              <a:spcAft>
                <a:spcPts val="700"/>
              </a:spcAft>
              <a:defRPr sz="2700" b="1">
                <a:solidFill>
                  <a:srgbClr val="172E2B"/>
                </a:solidFill>
                <a:latin typeface="Noto Sans CJK KR"/>
              </a:defRPr>
            </a:pPr>
            <a:r>
              <a:t>시딩 이후까지 챙기다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7746F"/>
                </a:solidFill>
                <a:latin typeface="Noto Sans CJK KR"/>
              </a:defRPr>
            </a:pPr>
            <a:r>
              <a:t>2025.04–2025.07  |  APR | 인플루언서 마케팅 운영 아르바이트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04872"/>
            <a:ext cx="5989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72E2B"/>
                </a:solidFill>
                <a:latin typeface="Noto Sans CJK KR"/>
              </a:defRPr>
            </a:pPr>
            <a:r>
              <a:t>브랜드 타깃과 제품 특성에 맞는 인플루언서를 발굴하고 협업 콘텐츠가 발행되도록 지원.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821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06A5D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8211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06A5D"/>
                </a:solidFill>
                <a:latin typeface="Noto Sans CJK KR"/>
              </a:defRPr>
            </a:pPr>
            <a:r>
              <a:t>리스트업·컨택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74720"/>
            <a:ext cx="5349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72E2B"/>
                </a:solidFill>
                <a:latin typeface="Noto Sans CJK KR"/>
              </a:defRPr>
            </a:pPr>
            <a:r>
              <a:t>타깃 고객과 제품 USP를 고려해 후보를 찾고 협찬 조건을 안내했습니다.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5020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06A5D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5020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06A5D"/>
                </a:solidFill>
                <a:latin typeface="Noto Sans CJK KR"/>
              </a:defRPr>
            </a:pPr>
            <a:r>
              <a:t>콘텐츠 검수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242816"/>
            <a:ext cx="5349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72E2B"/>
                </a:solidFill>
                <a:latin typeface="Noto Sans CJK KR"/>
              </a:defRPr>
            </a:pPr>
            <a:r>
              <a:t>브랜드 톤앤매너·필수 소구점·가이드 준수 여부를 확인하고 수정을 요청했습니다.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18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06A5D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18304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06A5D"/>
                </a:solidFill>
                <a:latin typeface="Noto Sans CJK KR"/>
              </a:defRPr>
            </a:pPr>
            <a:r>
              <a:t>게시·반응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010912"/>
            <a:ext cx="5349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72E2B"/>
                </a:solidFill>
                <a:latin typeface="Noto Sans CJK KR"/>
              </a:defRPr>
            </a:pPr>
            <a:r>
              <a:t>업로드 일정을 조율하고 게시 현황과 조회수·좋아요·공유 등 반응을 모니터링했습니다.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715000"/>
            <a:ext cx="58521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306A5D"/>
                </a:solidFill>
                <a:latin typeface="Noto Sans CJK KR"/>
              </a:defRPr>
            </a:pPr>
            <a:r>
              <a:t>직무 연결  |  크리에이터 발굴·커뮤니케이션·시딩·콘텐츠 관리의 실무 경험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2432304"/>
            <a:ext cx="4754880" cy="3163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glam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884" y="2606040"/>
            <a:ext cx="1673351" cy="2788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098280" y="28346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306A5D"/>
                </a:solidFill>
                <a:latin typeface="Noto Sans CJK KR"/>
              </a:defRPr>
            </a:pPr>
            <a:r>
              <a:t>시딩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3520440"/>
            <a:ext cx="2103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72E2B"/>
                </a:solidFill>
                <a:latin typeface="Noto Sans CJK KR"/>
              </a:defRPr>
            </a:pPr>
            <a:r>
              <a:t>발굴·리스트업</a:t>
            </a:r>
          </a:p>
          <a:p>
            <a:pPr>
              <a:spcAft>
                <a:spcPts val="700"/>
              </a:spcAft>
              <a:defRPr sz="1400" b="0">
                <a:solidFill>
                  <a:srgbClr val="172E2B"/>
                </a:solidFill>
                <a:latin typeface="Noto Sans CJK KR"/>
              </a:defRPr>
            </a:pPr>
            <a:r>
              <a:t>컨택·조건 안내</a:t>
            </a:r>
          </a:p>
          <a:p>
            <a:pPr>
              <a:spcAft>
                <a:spcPts val="700"/>
              </a:spcAft>
              <a:defRPr sz="1400" b="0">
                <a:solidFill>
                  <a:srgbClr val="172E2B"/>
                </a:solidFill>
                <a:latin typeface="Noto Sans CJK KR"/>
              </a:defRPr>
            </a:pPr>
            <a:r>
              <a:t>콘텐츠 검수</a:t>
            </a:r>
          </a:p>
          <a:p>
            <a:pPr>
              <a:spcAft>
                <a:spcPts val="700"/>
              </a:spcAft>
              <a:defRPr sz="1400" b="0">
                <a:solidFill>
                  <a:srgbClr val="172E2B"/>
                </a:solidFill>
                <a:latin typeface="Noto Sans CJK KR"/>
              </a:defRPr>
            </a:pPr>
            <a:r>
              <a:t>게시·반응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5980176"/>
            <a:ext cx="47091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50" b="0">
                <a:solidFill>
                  <a:srgbClr val="67746F"/>
                </a:solidFill>
                <a:latin typeface="Noto Sans CJK KR"/>
              </a:defRPr>
            </a:pPr>
            <a:r>
              <a:t>확인 가능한 본인 담당 범위를 중심으로 정리했습니다. 브랜드 전체 시딩 실적을 개인 실적으로 합산하지 않았습니다.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06A5D"/>
                </a:solidFill>
                <a:latin typeface="Noto Sans CJK KR"/>
              </a:defRPr>
            </a:pPr>
            <a:r>
              <a:t>CASE 04  /  APR · 포토그레이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85800"/>
            <a:ext cx="11155680" cy="13716"/>
          </a:xfrm>
          <a:prstGeom prst="rect">
            <a:avLst/>
          </a:prstGeom>
          <a:solidFill>
            <a:srgbClr val="CF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7746F"/>
                </a:solidFill>
                <a:latin typeface="Noto Sans CJK KR"/>
              </a:defRPr>
            </a:pPr>
            <a:r>
              <a:t>AHN YUJIN  /  INFLUENCER &amp; CONTENT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7746F"/>
                </a:solidFill>
                <a:latin typeface="Noto Sans CJK KR"/>
              </a:defRPr>
            </a:pPr>
            <a:r>
              <a:t>06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2E2B"/>
                </a:solidFill>
                <a:latin typeface="Noto Sans CJK KR"/>
              </a:defRPr>
            </a:pPr>
            <a:r>
              <a:t>유행하는 밈을</a:t>
            </a:r>
          </a:p>
          <a:p>
            <a:pPr>
              <a:spcAft>
                <a:spcPts val="700"/>
              </a:spcAft>
              <a:defRPr sz="2700" b="1">
                <a:solidFill>
                  <a:srgbClr val="172E2B"/>
                </a:solidFill>
                <a:latin typeface="Noto Sans CJK KR"/>
              </a:defRPr>
            </a:pPr>
            <a:r>
              <a:t>프레임 이용 장면으로 바꾸다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7746F"/>
                </a:solidFill>
                <a:latin typeface="Noto Sans CJK KR"/>
              </a:defRPr>
            </a:pPr>
            <a:r>
              <a:t>2025.04–2025.05  |  APR | 콘텐츠 기획·출연 및 촬영 참여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04872"/>
            <a:ext cx="5989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72E2B"/>
                </a:solidFill>
                <a:latin typeface="Noto Sans CJK KR"/>
              </a:defRPr>
            </a:pPr>
            <a:r>
              <a:t>새로운 카메라 프레임의 시각적 특징과 이용 장면을 숏폼으로 보여주기.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821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06A5D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8211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06A5D"/>
                </a:solidFill>
                <a:latin typeface="Noto Sans CJK KR"/>
              </a:defRPr>
            </a:pPr>
            <a:r>
              <a:t>트렌드 포착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74720"/>
            <a:ext cx="5349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72E2B"/>
                </a:solidFill>
                <a:latin typeface="Noto Sans CJK KR"/>
              </a:defRPr>
            </a:pPr>
            <a:r>
              <a:t>인스타그램에서 확산 중인 밈을 신규 프레임 홍보 소재로 선택했습니다.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5020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06A5D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5020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06A5D"/>
                </a:solidFill>
                <a:latin typeface="Noto Sans CJK KR"/>
              </a:defRPr>
            </a:pPr>
            <a:r>
              <a:t>브랜드 이용 장면 연결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242816"/>
            <a:ext cx="5349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72E2B"/>
                </a:solidFill>
                <a:latin typeface="Noto Sans CJK KR"/>
              </a:defRPr>
            </a:pPr>
            <a:r>
              <a:t>밈의 유행 요소와 카메라 프레임을 결합해 영상 구성을 기획했습니다.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18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06A5D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18304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06A5D"/>
                </a:solidFill>
                <a:latin typeface="Noto Sans CJK KR"/>
              </a:defRPr>
            </a:pPr>
            <a:r>
              <a:t>직접 실행·발행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010912"/>
            <a:ext cx="5349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72E2B"/>
                </a:solidFill>
                <a:latin typeface="Noto Sans CJK KR"/>
              </a:defRPr>
            </a:pPr>
            <a:r>
              <a:t>릴스 2건에 직접 출연하고 촬영에 참여했습니다. 프레임 적용 상태를 점검하고 공식 계정 발행 후 반응을 확인했습니다.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715000"/>
            <a:ext cx="58521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306A5D"/>
                </a:solidFill>
                <a:latin typeface="Noto Sans CJK KR"/>
              </a:defRPr>
            </a:pPr>
            <a:r>
              <a:t>직무 연결  |  SNS 트렌드 리서치 → 브랜드 맥락에 맞춘 숏폼 기획 → 제작·반응 확인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2432304"/>
            <a:ext cx="4754880" cy="3163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hotogray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485" y="2560320"/>
            <a:ext cx="1327333" cy="2377440"/>
          </a:xfrm>
          <a:prstGeom prst="rect">
            <a:avLst/>
          </a:prstGeom>
        </p:spPr>
      </p:pic>
      <p:pic>
        <p:nvPicPr>
          <p:cNvPr id="21" name="Picture 20" descr="photogray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343" y="2560320"/>
            <a:ext cx="1356736" cy="23774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7004304" y="4736592"/>
            <a:ext cx="4361688" cy="877824"/>
          </a:xfrm>
          <a:prstGeom prst="rect">
            <a:avLst/>
          </a:prstGeom>
          <a:solidFill>
            <a:srgbClr val="E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0608" y="4828031"/>
            <a:ext cx="40873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306A5D"/>
                </a:solidFill>
                <a:latin typeface="Noto Sans CJK KR"/>
              </a:defRPr>
            </a:pPr>
            <a:r>
              <a:t>445.3만 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8" y="5285231"/>
            <a:ext cx="4087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7746F"/>
                </a:solidFill>
                <a:latin typeface="Noto Sans CJK KR"/>
              </a:defRPr>
            </a:pPr>
            <a:r>
              <a:t>기획·출연 릴스 2건 합산 조회수</a:t>
            </a:r>
          </a:p>
        </p:txBody>
      </p:sp>
      <p:sp>
        <p:nvSpPr>
          <p:cNvPr id="25" name="TextBox 24">
            <a:hlinkClick r:id="rId4"/>
          </p:cNvPr>
          <p:cNvSpPr txBox="1"/>
          <p:nvPr/>
        </p:nvSpPr>
        <p:spPr>
          <a:xfrm>
            <a:off x="7040880" y="5687568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306A5D"/>
                </a:solidFill>
                <a:latin typeface="Noto Sans CJK KR"/>
              </a:defRPr>
            </a:pPr>
            <a:r>
              <a:t>원본 릴스 보기 ↗</a:t>
            </a:r>
          </a:p>
        </p:txBody>
      </p:sp>
      <p:sp>
        <p:nvSpPr>
          <p:cNvPr id="26" name="TextBox 25">
            <a:hlinkClick r:id="rId5"/>
          </p:cNvPr>
          <p:cNvSpPr txBox="1"/>
          <p:nvPr/>
        </p:nvSpPr>
        <p:spPr>
          <a:xfrm>
            <a:off x="9235440" y="5687568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306A5D"/>
                </a:solidFill>
                <a:latin typeface="Noto Sans CJK KR"/>
              </a:defRPr>
            </a:pPr>
            <a:r>
              <a:t>원본 릴스 보기 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5980176"/>
            <a:ext cx="47091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50" b="0">
                <a:solidFill>
                  <a:srgbClr val="67746F"/>
                </a:solidFill>
                <a:latin typeface="Noto Sans CJK KR"/>
              </a:defRPr>
            </a:pPr>
            <a:r>
              <a:t>공룡 밈 208.7만 회 + 사후르 밈 236.6만 회. 최신 이력서 기재 수치이며 두 콘텐츠의 누적 조회수입니다. 조회수 집계일은 제출 전 확인이 필요합니다.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06A5D"/>
                </a:solidFill>
                <a:latin typeface="Noto Sans CJK KR"/>
              </a:defRPr>
            </a:pPr>
            <a:r>
              <a:t>CASE 05  /  GS넷비전 · 플레이너츠 / GS POSTBOX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85800"/>
            <a:ext cx="11155680" cy="13716"/>
          </a:xfrm>
          <a:prstGeom prst="rect">
            <a:avLst/>
          </a:prstGeom>
          <a:solidFill>
            <a:srgbClr val="CF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7746F"/>
                </a:solidFill>
                <a:latin typeface="Noto Sans CJK KR"/>
              </a:defRPr>
            </a:pPr>
            <a:r>
              <a:t>AHN YUJIN  /  INFLUENCER &amp; CONTENT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7746F"/>
                </a:solidFill>
                <a:latin typeface="Noto Sans CJK KR"/>
              </a:defRPr>
            </a:pPr>
            <a:r>
              <a:t>07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2E2B"/>
                </a:solidFill>
                <a:latin typeface="Noto Sans CJK KR"/>
              </a:defRPr>
            </a:pPr>
            <a:r>
              <a:t>발행 이후의 데이터를</a:t>
            </a:r>
          </a:p>
          <a:p>
            <a:pPr>
              <a:spcAft>
                <a:spcPts val="700"/>
              </a:spcAft>
              <a:defRPr sz="2700" b="1">
                <a:solidFill>
                  <a:srgbClr val="172E2B"/>
                </a:solidFill>
                <a:latin typeface="Noto Sans CJK KR"/>
              </a:defRPr>
            </a:pPr>
            <a:r>
              <a:t>다음 운영 판단의 근거로 정리하다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7746F"/>
                </a:solidFill>
                <a:latin typeface="Noto Sans CJK KR"/>
              </a:defRPr>
            </a:pPr>
            <a:r>
              <a:t>2025.01–2025.04  |  GS넷비전 | 콘텐츠커머스팀 현장실습 인턴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04872"/>
            <a:ext cx="5989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72E2B"/>
                </a:solidFill>
                <a:latin typeface="Noto Sans CJK KR"/>
              </a:defRPr>
            </a:pPr>
            <a:r>
              <a:t>크리에이터 채널과 브랜드 SNS의 콘텐츠 일정·광고 구좌·성과 데이터를 관리.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821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06A5D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8211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06A5D"/>
                </a:solidFill>
                <a:latin typeface="Noto Sans CJK KR"/>
              </a:defRPr>
            </a:pPr>
            <a:r>
              <a:t>채널 운영·협업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74720"/>
            <a:ext cx="5349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72E2B"/>
                </a:solidFill>
                <a:latin typeface="Noto Sans CJK KR"/>
              </a:defRPr>
            </a:pPr>
            <a:r>
              <a:t>유튜브 업로드 일정과 광고 구좌를 관리하고 광고 집행 일정·월별 정산 및 수익 배분 실무를 지원했습니다.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5020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06A5D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5020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06A5D"/>
                </a:solidFill>
                <a:latin typeface="Noto Sans CJK KR"/>
              </a:defRPr>
            </a:pPr>
            <a:r>
              <a:t>월간 성과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242816"/>
            <a:ext cx="5349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72E2B"/>
                </a:solidFill>
                <a:latin typeface="Noto Sans CJK KR"/>
              </a:defRPr>
            </a:pPr>
            <a:r>
              <a:t>크리에이터별 조회수·구독자·참여 지표를 분석해 월간 채널 성과 리포트를 작성했습니다.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18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06A5D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18304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06A5D"/>
                </a:solidFill>
                <a:latin typeface="Noto Sans CJK KR"/>
              </a:defRPr>
            </a:pPr>
            <a:r>
              <a:t>브랜드 숏폼 운영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010912"/>
            <a:ext cx="5349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72E2B"/>
                </a:solidFill>
                <a:latin typeface="Noto Sans CJK KR"/>
              </a:defRPr>
            </a:pPr>
            <a:r>
              <a:t>GS POSTBOX 릴스 기획·촬영에 참여하고 15건의 발행 일정과 이용자 반응을 모니터링했습니다.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715000"/>
            <a:ext cx="58521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306A5D"/>
                </a:solidFill>
                <a:latin typeface="Noto Sans CJK KR"/>
              </a:defRPr>
            </a:pPr>
            <a:r>
              <a:t>직무 연결  |  콘텐츠별 지표 수집·분석 → 월간 보고 → 협업 일정·운영 관리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2432304"/>
            <a:ext cx="4754880" cy="3163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2642616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06A5D"/>
                </a:solidFill>
                <a:latin typeface="Noto Sans CJK KR"/>
              </a:defRPr>
            </a:pPr>
            <a:r>
              <a:t>담당 크리에이터 채널 누적 조회수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24612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72E2B"/>
                </a:solidFill>
                <a:latin typeface="Noto Sans CJK KR"/>
              </a:defRPr>
            </a:pPr>
            <a:r>
              <a:t>이전 550만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3273551"/>
            <a:ext cx="808789" cy="219456"/>
          </a:xfrm>
          <a:prstGeom prst="rect">
            <a:avLst/>
          </a:prstGeom>
          <a:solidFill>
            <a:srgbClr val="CF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3831335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72E2B"/>
                </a:solidFill>
                <a:latin typeface="Noto Sans CJK KR"/>
              </a:defRPr>
            </a:pPr>
            <a:r>
              <a:t>이후 1,710만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3858768"/>
            <a:ext cx="2514600" cy="219456"/>
          </a:xfrm>
          <a:prstGeom prst="rect">
            <a:avLst/>
          </a:prstGeom>
          <a:solidFill>
            <a:srgbClr val="306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0" y="4590288"/>
            <a:ext cx="4297680" cy="877824"/>
          </a:xfrm>
          <a:prstGeom prst="rect">
            <a:avLst/>
          </a:prstGeom>
          <a:solidFill>
            <a:srgbClr val="E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87184" y="4681727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306A5D"/>
                </a:solidFill>
                <a:latin typeface="Noto Sans CJK KR"/>
              </a:defRPr>
            </a:pPr>
            <a:r>
              <a:t>15건 · 41.1만 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4" y="5138927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7746F"/>
                </a:solidFill>
                <a:latin typeface="Noto Sans CJK KR"/>
              </a:defRPr>
            </a:pPr>
            <a:r>
              <a:t>GS POSTBOX 릴스 운영 콘텐츠 합산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5980176"/>
            <a:ext cx="47091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50" b="0">
                <a:solidFill>
                  <a:srgbClr val="67746F"/>
                </a:solidFill>
                <a:latin typeface="Noto Sans CJK KR"/>
              </a:defRPr>
            </a:pPr>
            <a:r>
              <a:t>채널 조회수는 운영 기간 관찰 지표이며 개인 단독 성과가 아닙니다. POSTBOX 콘텐츠당 평균 조회수 2.74만 회, 좋아요 합계 911건.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06A5D"/>
                </a:solidFill>
                <a:latin typeface="Noto Sans CJK KR"/>
              </a:defRPr>
            </a:pPr>
            <a:r>
              <a:t>CASE 06  /  GS넷비전 · 플레이너츠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85800"/>
            <a:ext cx="11155680" cy="13716"/>
          </a:xfrm>
          <a:prstGeom prst="rect">
            <a:avLst/>
          </a:prstGeom>
          <a:solidFill>
            <a:srgbClr val="CF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7746F"/>
                </a:solidFill>
                <a:latin typeface="Noto Sans CJK KR"/>
              </a:defRPr>
            </a:pPr>
            <a:r>
              <a:t>AHN YUJIN  /  INFLUENCER &amp; CONTENT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7746F"/>
                </a:solidFill>
                <a:latin typeface="Noto Sans CJK KR"/>
              </a:defRPr>
            </a:pPr>
            <a:r>
              <a:t>08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2E2B"/>
                </a:solidFill>
                <a:latin typeface="Noto Sans CJK KR"/>
              </a:defRPr>
            </a:pPr>
            <a:r>
              <a:t>흩어진 트렌드를</a:t>
            </a:r>
          </a:p>
          <a:p>
            <a:pPr>
              <a:spcAft>
                <a:spcPts val="700"/>
              </a:spcAft>
              <a:defRPr sz="2700" b="1">
                <a:solidFill>
                  <a:srgbClr val="172E2B"/>
                </a:solidFill>
                <a:latin typeface="Noto Sans CJK KR"/>
              </a:defRPr>
            </a:pPr>
            <a:r>
              <a:t>반복해서 쓸 수 있는 리포트로 만들다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7746F"/>
                </a:solidFill>
                <a:latin typeface="Noto Sans CJK KR"/>
              </a:defRPr>
            </a:pPr>
            <a:r>
              <a:t>2025.01–2025.04  |  GS넷비전 | 단독 프로젝트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04872"/>
            <a:ext cx="5989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72E2B"/>
                </a:solidFill>
                <a:latin typeface="Noto Sans CJK KR"/>
              </a:defRPr>
            </a:pPr>
            <a:r>
              <a:t>비정형 트렌드 리포트의 정보 분류와 작성 기준을 정리.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821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06A5D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8211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06A5D"/>
                </a:solidFill>
                <a:latin typeface="Noto Sans CJK KR"/>
              </a:defRPr>
            </a:pPr>
            <a:r>
              <a:t>고정 섹션 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74720"/>
            <a:ext cx="5349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72E2B"/>
                </a:solidFill>
                <a:latin typeface="Noto Sans CJK KR"/>
              </a:defRPr>
            </a:pPr>
            <a:r>
              <a:t>월별 캘린더·산업 이슈·소비 트렌드·밈·챌린지를 구분하는 Notion 표준 템플릿을 설계했습니다.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5020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06A5D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5020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06A5D"/>
                </a:solidFill>
                <a:latin typeface="Noto Sans CJK KR"/>
              </a:defRPr>
            </a:pPr>
            <a:r>
              <a:t>사례·반응 리서치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242816"/>
            <a:ext cx="5349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72E2B"/>
                </a:solidFill>
                <a:latin typeface="Noto Sans CJK KR"/>
              </a:defRPr>
            </a:pPr>
            <a:r>
              <a:t>F&amp;B·뷰티·패션·이커머스의 마케팅 사례와 소비자 반응을 조사했습니다.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18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06A5D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18304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06A5D"/>
                </a:solidFill>
                <a:latin typeface="Noto Sans CJK KR"/>
              </a:defRPr>
            </a:pPr>
            <a:r>
              <a:t>정기 발행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010912"/>
            <a:ext cx="5349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72E2B"/>
                </a:solidFill>
                <a:latin typeface="Noto Sans CJK KR"/>
              </a:defRPr>
            </a:pPr>
            <a:r>
              <a:t>같은 분류 기준으로 자료를 정리하며 후속 리포트에 재사용할 수 있는 발행 체계를 구축했습니다.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715000"/>
            <a:ext cx="58521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306A5D"/>
                </a:solidFill>
                <a:latin typeface="Noto Sans CJK KR"/>
              </a:defRPr>
            </a:pPr>
            <a:r>
              <a:t>직무 연결  |  SNS·경쟁 콘텐츠 리서치 → 사례 분류 → 협업 콘텐츠 기획 자료화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2432304"/>
            <a:ext cx="4754880" cy="3163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26517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06A5D"/>
                </a:solidFill>
                <a:latin typeface="Noto Sans CJK KR"/>
              </a:defRPr>
            </a:pPr>
            <a:r>
              <a:t>트렌드 리포트의 고정 섹션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59168" y="3182112"/>
            <a:ext cx="4251960" cy="356616"/>
          </a:xfrm>
          <a:prstGeom prst="rect">
            <a:avLst/>
          </a:prstGeom>
          <a:solidFill>
            <a:srgbClr val="E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3227832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72E2B"/>
                </a:solidFill>
                <a:latin typeface="Noto Sans CJK KR"/>
              </a:defRPr>
            </a:pPr>
            <a:r>
              <a:t>월별 마케팅 캘린더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59168" y="3630168"/>
            <a:ext cx="4251960" cy="356616"/>
          </a:xfrm>
          <a:prstGeom prst="rect">
            <a:avLst/>
          </a:prstGeom>
          <a:solidFill>
            <a:srgbClr val="E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3675887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72E2B"/>
                </a:solidFill>
                <a:latin typeface="Noto Sans CJK KR"/>
              </a:defRPr>
            </a:pPr>
            <a:r>
              <a:t>산업 이슈 · 소비 트렌드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59168" y="4078224"/>
            <a:ext cx="4251960" cy="356616"/>
          </a:xfrm>
          <a:prstGeom prst="rect">
            <a:avLst/>
          </a:prstGeom>
          <a:solidFill>
            <a:srgbClr val="E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4123944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72E2B"/>
                </a:solidFill>
                <a:latin typeface="Noto Sans CJK KR"/>
              </a:defRPr>
            </a:pPr>
            <a:r>
              <a:t>SNS 밈 · 챌린지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59168" y="4526280"/>
            <a:ext cx="4251960" cy="356616"/>
          </a:xfrm>
          <a:prstGeom prst="rect">
            <a:avLst/>
          </a:prstGeom>
          <a:solidFill>
            <a:srgbClr val="E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4572000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72E2B"/>
                </a:solidFill>
                <a:latin typeface="Noto Sans CJK KR"/>
              </a:defRPr>
            </a:pPr>
            <a:r>
              <a:t>브랜드 사례 · 소비자 반응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516636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7746F"/>
                </a:solidFill>
                <a:latin typeface="Noto Sans CJK KR"/>
              </a:defRPr>
            </a:pPr>
            <a:r>
              <a:t>수행 업무를 재구성한 정보 구조 예시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5980176"/>
            <a:ext cx="47091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50" b="0">
                <a:solidFill>
                  <a:srgbClr val="67746F"/>
                </a:solidFill>
                <a:latin typeface="Noto Sans CJK KR"/>
              </a:defRPr>
            </a:pPr>
            <a:r>
              <a:t>정량 개선율은 제시하지 않습니다. 결과는 분류·작성 기준의 표준화와 반복 발행 체계 구축입니다.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06A5D"/>
                </a:solidFill>
                <a:latin typeface="Noto Sans CJK KR"/>
              </a:defRPr>
            </a:pPr>
            <a:r>
              <a:t>CASE 07  /  건국대학교 총학생회 · 녹색지대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85800"/>
            <a:ext cx="11155680" cy="13716"/>
          </a:xfrm>
          <a:prstGeom prst="rect">
            <a:avLst/>
          </a:prstGeom>
          <a:solidFill>
            <a:srgbClr val="CF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7746F"/>
                </a:solidFill>
                <a:latin typeface="Noto Sans CJK KR"/>
              </a:defRPr>
            </a:pPr>
            <a:r>
              <a:t>AHN YUJIN  /  INFLUENCER &amp; CONTENT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7746F"/>
                </a:solidFill>
                <a:latin typeface="Noto Sans CJK KR"/>
              </a:defRPr>
            </a:pPr>
            <a:r>
              <a:t>09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2E2B"/>
                </a:solidFill>
                <a:latin typeface="Noto Sans CJK KR"/>
              </a:defRPr>
            </a:pPr>
            <a:r>
              <a:t>장소 변경의 제약을 풀고</a:t>
            </a:r>
          </a:p>
          <a:p>
            <a:pPr>
              <a:spcAft>
                <a:spcPts val="700"/>
              </a:spcAft>
              <a:defRPr sz="2700" b="1">
                <a:solidFill>
                  <a:srgbClr val="172E2B"/>
                </a:solidFill>
                <a:latin typeface="Noto Sans CJK KR"/>
              </a:defRPr>
            </a:pPr>
            <a:r>
              <a:t>축제 운영을 실행하다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7746F"/>
                </a:solidFill>
                <a:latin typeface="Noto Sans CJK KR"/>
              </a:defRPr>
            </a:pPr>
            <a:r>
              <a:t>2023  |  건국대학교 총학생회 비상대책위원회 | 부위원장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04872"/>
            <a:ext cx="5989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72E2B"/>
                </a:solidFill>
                <a:latin typeface="Noto Sans CJK KR"/>
              </a:defRPr>
            </a:pPr>
            <a:r>
              <a:t>기존 행사장 보수공사 상황에서 대운동장 사용 승인과 행사 운영 조건을 확보.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821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06A5D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8211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06A5D"/>
                </a:solidFill>
                <a:latin typeface="Noto Sans CJK KR"/>
              </a:defRPr>
            </a:pPr>
            <a:r>
              <a:t>이해관계자 조율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74720"/>
            <a:ext cx="5349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72E2B"/>
                </a:solidFill>
                <a:latin typeface="Noto Sans CJK KR"/>
              </a:defRPr>
            </a:pPr>
            <a:r>
              <a:t>장소 변경에 필요한 실행 대안을 정리하고 대학 본부·관계부서·협력업체와 협의했습니다.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5020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06A5D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5020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06A5D"/>
                </a:solidFill>
                <a:latin typeface="Noto Sans CJK KR"/>
              </a:defRPr>
            </a:pPr>
            <a:r>
              <a:t>운영 조건 구체화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242816"/>
            <a:ext cx="5349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72E2B"/>
                </a:solidFill>
                <a:latin typeface="Noto Sans CJK KR"/>
              </a:defRPr>
            </a:pPr>
            <a:r>
              <a:t>출입 동선·통제구역·시설 복구 계획과 행사 재원 마련 방안을 조율했습니다.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18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306A5D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18304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06A5D"/>
                </a:solidFill>
                <a:latin typeface="Noto Sans CJK KR"/>
              </a:defRPr>
            </a:pPr>
            <a:r>
              <a:t>현장 참여 유도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010912"/>
            <a:ext cx="5349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72E2B"/>
                </a:solidFill>
                <a:latin typeface="Noto Sans CJK KR"/>
              </a:defRPr>
            </a:pPr>
            <a:r>
              <a:t>반다나·부채·슬로건 굿즈를 기획·제작해 홍보 부스에서 무료 배부 프로모션을 운영했습니다.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715000"/>
            <a:ext cx="58521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306A5D"/>
                </a:solidFill>
                <a:latin typeface="Noto Sans CJK KR"/>
              </a:defRPr>
            </a:pPr>
            <a:r>
              <a:t>직무 연결  |  다수 파트너 조율·일정 관리·현장 실행을 보여주는 보조 경험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2432304"/>
            <a:ext cx="4754880" cy="3163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2624328"/>
            <a:ext cx="4297680" cy="877824"/>
          </a:xfrm>
          <a:prstGeom prst="rect">
            <a:avLst/>
          </a:prstGeom>
          <a:solidFill>
            <a:srgbClr val="E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4" y="271576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306A5D"/>
                </a:solidFill>
                <a:latin typeface="Noto Sans CJK KR"/>
              </a:defRPr>
            </a:pPr>
            <a:r>
              <a:t>약 1.4만 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7184" y="317296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7746F"/>
                </a:solidFill>
                <a:latin typeface="Noto Sans CJK KR"/>
              </a:defRPr>
            </a:pPr>
            <a:r>
              <a:t>축제 전체 참여 규모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3657600"/>
            <a:ext cx="4297680" cy="877824"/>
          </a:xfrm>
          <a:prstGeom prst="rect">
            <a:avLst/>
          </a:prstGeom>
          <a:solidFill>
            <a:srgbClr val="E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7184" y="3749039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306A5D"/>
                </a:solidFill>
                <a:latin typeface="Noto Sans CJK KR"/>
              </a:defRPr>
            </a:pPr>
            <a:r>
              <a:t>약 800개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7184" y="4206240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7746F"/>
                </a:solidFill>
                <a:latin typeface="Noto Sans CJK KR"/>
              </a:defRPr>
            </a:pPr>
            <a:r>
              <a:t>총학생회 부스 기념 굿즈 전량 배부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873752"/>
            <a:ext cx="429768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06A5D"/>
                </a:solidFill>
                <a:latin typeface="Noto Sans CJK KR"/>
              </a:defRPr>
            </a:pPr>
            <a:r>
              <a:t>대학 본부 ↔ 학생회 ↔ 외부 업체</a:t>
            </a:r>
          </a:p>
          <a:p>
            <a:pPr>
              <a:spcAft>
                <a:spcPts val="700"/>
              </a:spcAft>
              <a:defRPr sz="1300" b="1">
                <a:solidFill>
                  <a:srgbClr val="306A5D"/>
                </a:solidFill>
                <a:latin typeface="Noto Sans CJK KR"/>
              </a:defRPr>
            </a:pPr>
            <a:r>
              <a:t>조건 협의와 현장 실행을 연결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5980176"/>
            <a:ext cx="470916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50" b="0">
                <a:solidFill>
                  <a:srgbClr val="67746F"/>
                </a:solidFill>
                <a:latin typeface="Noto Sans CJK KR"/>
              </a:defRPr>
            </a:pPr>
            <a:r>
              <a:t>협업·프로젝트 운영 역량을 보완하는 사례입니다. 인플루언서 마케팅 직접 실적으로 분류하지 않습니다.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06A5D"/>
                </a:solidFill>
                <a:latin typeface="Noto Sans CJK KR"/>
              </a:defRPr>
            </a:pPr>
            <a:r>
              <a:t>WORKING METHOD  /  피캄에서 이어갈 실행 방식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85800"/>
            <a:ext cx="11155680" cy="13716"/>
          </a:xfrm>
          <a:prstGeom prst="rect">
            <a:avLst/>
          </a:prstGeom>
          <a:solidFill>
            <a:srgbClr val="CF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7746F"/>
                </a:solidFill>
                <a:latin typeface="Noto Sans CJK KR"/>
              </a:defRPr>
            </a:pPr>
            <a:r>
              <a:t>AHN YUJIN  /  INFLUENCER &amp; CONTENT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7746F"/>
                </a:solidFill>
                <a:latin typeface="Noto Sans CJK KR"/>
              </a:defRPr>
            </a:pPr>
            <a:r>
              <a:t>10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72E2B"/>
                </a:solidFill>
                <a:latin typeface="Noto Sans CJK KR"/>
              </a:defRPr>
            </a:pPr>
            <a:r>
              <a:t>제품을 이해하고, 협업을 실행하고,</a:t>
            </a:r>
          </a:p>
          <a:p>
            <a:pPr>
              <a:spcAft>
                <a:spcPts val="700"/>
              </a:spcAft>
              <a:defRPr sz="2800" b="1">
                <a:solidFill>
                  <a:srgbClr val="172E2B"/>
                </a:solidFill>
                <a:latin typeface="Noto Sans CJK KR"/>
              </a:defRPr>
            </a:pPr>
            <a:r>
              <a:t>다음 콘텐츠에 쓸 근거를 남기겠습니다.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862072"/>
            <a:ext cx="3438144" cy="2423160"/>
          </a:xfrm>
          <a:prstGeom prst="rect">
            <a:avLst/>
          </a:prstGeom>
          <a:solidFill>
            <a:srgbClr val="E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306A5D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75887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72E2B"/>
                </a:solidFill>
                <a:latin typeface="Noto Sans CJK KR"/>
              </a:defRPr>
            </a:pPr>
            <a:r>
              <a:t>브랜드에 맞게 찾기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79392"/>
            <a:ext cx="299008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72E2B"/>
                </a:solidFill>
                <a:latin typeface="Noto Sans CJK KR"/>
              </a:defRPr>
            </a:pPr>
            <a:r>
              <a:t>제품 USP·타깃·크리에이터의 콘텐츠 맥락을 함께 확인하겠습니다.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862072"/>
            <a:ext cx="3438144" cy="2423160"/>
          </a:xfrm>
          <a:prstGeom prst="rect">
            <a:avLst/>
          </a:prstGeom>
          <a:solidFill>
            <a:srgbClr val="E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06324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306A5D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675887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72E2B"/>
                </a:solidFill>
                <a:latin typeface="Noto Sans CJK KR"/>
              </a:defRPr>
            </a:pPr>
            <a:r>
              <a:t>발행까지 관리하기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279392"/>
            <a:ext cx="299008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72E2B"/>
                </a:solidFill>
                <a:latin typeface="Noto Sans CJK KR"/>
              </a:defRPr>
            </a:pPr>
            <a:r>
              <a:t>협업 조건·필수 소구점·수정 사항·발행 일정을 명확하게 전달하겠습니다.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2862072"/>
            <a:ext cx="3438144" cy="2423160"/>
          </a:xfrm>
          <a:prstGeom prst="rect">
            <a:avLst/>
          </a:prstGeom>
          <a:solidFill>
            <a:srgbClr val="E1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306324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306A5D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3675887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72E2B"/>
                </a:solidFill>
                <a:latin typeface="Noto Sans CJK KR"/>
              </a:defRPr>
            </a:pPr>
            <a:r>
              <a:t>같은 기준으로 보기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4279392"/>
            <a:ext cx="299008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72E2B"/>
                </a:solidFill>
                <a:latin typeface="Noto Sans CJK KR"/>
              </a:defRPr>
            </a:pPr>
            <a:r>
              <a:t>조회수와 인터랙션을 구분해 정리하고 다음 협업을 검토할 근거로 남기겠습니다.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7607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7746F"/>
                </a:solidFill>
                <a:latin typeface="Noto Sans CJK KR"/>
              </a:defRPr>
            </a:pPr>
            <a:r>
              <a:t>위 내용은 기존 경험을 바탕으로 한 입사 후 업무 적용 방향입니다.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06A5D"/>
                </a:solidFill>
                <a:latin typeface="Noto Sans CJK KR"/>
              </a:defRPr>
            </a:pPr>
            <a:r>
              <a:t>CONTACT  /  안유진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85800"/>
            <a:ext cx="11155680" cy="13716"/>
          </a:xfrm>
          <a:prstGeom prst="rect">
            <a:avLst/>
          </a:prstGeom>
          <a:solidFill>
            <a:srgbClr val="CF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7746F"/>
                </a:solidFill>
                <a:latin typeface="Noto Sans CJK KR"/>
              </a:defRPr>
            </a:pPr>
            <a:r>
              <a:t>AHN YUJIN  /  INFLUENCER &amp; CONTENT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7746F"/>
                </a:solidFill>
                <a:latin typeface="Noto Sans CJK KR"/>
              </a:defRPr>
            </a:pPr>
            <a:r>
              <a:t>11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728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300" b="1">
                <a:solidFill>
                  <a:srgbClr val="172E2B"/>
                </a:solidFill>
                <a:latin typeface="Noto Sans CJK KR"/>
              </a:defRPr>
            </a:pPr>
            <a:r>
              <a:t>협업이 콘텐츠로,</a:t>
            </a:r>
          </a:p>
          <a:p>
            <a:pPr>
              <a:spcAft>
                <a:spcPts val="700"/>
              </a:spcAft>
              <a:defRPr sz="3300" b="1">
                <a:solidFill>
                  <a:srgbClr val="172E2B"/>
                </a:solidFill>
                <a:latin typeface="Noto Sans CJK KR"/>
              </a:defRPr>
            </a:pPr>
            <a:r>
              <a:t>콘텐츠가 고객 반응으로 이어지도록.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49039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67746F"/>
                </a:solidFill>
                <a:latin typeface="Noto Sans CJK KR"/>
              </a:defRPr>
            </a:pPr>
            <a:r>
              <a:t>브랜드에 맞는 크리에이터를 찾고,</a:t>
            </a:r>
          </a:p>
          <a:p>
            <a:pPr>
              <a:spcAft>
                <a:spcPts val="700"/>
              </a:spcAft>
              <a:defRPr sz="1900" b="0">
                <a:solidFill>
                  <a:srgbClr val="67746F"/>
                </a:solidFill>
                <a:latin typeface="Noto Sans CJK KR"/>
              </a:defRPr>
            </a:pPr>
            <a:r>
              <a:t>발행 이후의 결과까지 꼼꼼히 정리하겠습니다.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120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306A5D"/>
                </a:solidFill>
                <a:latin typeface="Noto Sans CJK KR"/>
              </a:defRPr>
            </a:pPr>
            <a:r>
              <a:t>안유진  |  인플루언서 · 콘텐츠 마케팅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7746F"/>
                </a:solidFill>
                <a:latin typeface="Noto Sans CJK KR"/>
              </a:defRPr>
            </a:pPr>
            <a:r>
              <a:t>GitHub  ·  github.com/yuuuujin1010/Portfolio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